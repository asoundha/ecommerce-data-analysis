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053" r:id="rId2"/>
    <p:sldId id="256" r:id="rId3"/>
    <p:sldId id="1054" r:id="rId4"/>
    <p:sldId id="1055" r:id="rId5"/>
    <p:sldId id="1056" r:id="rId6"/>
    <p:sldId id="1057" r:id="rId7"/>
    <p:sldId id="1058" r:id="rId8"/>
    <p:sldId id="1059" r:id="rId9"/>
    <p:sldId id="1060" r:id="rId10"/>
    <p:sldId id="1061" r:id="rId11"/>
    <p:sldId id="1063" r:id="rId12"/>
    <p:sldId id="10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997F731-0DA1-4648-BC1A-09921F7009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3E75E6-721F-4037-B0DC-A5DAF1D882E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422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F731-0DA1-4648-BC1A-09921F7009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5E6-721F-4037-B0DC-A5DAF1D88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21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F731-0DA1-4648-BC1A-09921F7009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5E6-721F-4037-B0DC-A5DAF1D882E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59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F731-0DA1-4648-BC1A-09921F7009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5E6-721F-4037-B0DC-A5DAF1D88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68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F731-0DA1-4648-BC1A-09921F7009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5E6-721F-4037-B0DC-A5DAF1D88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3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F731-0DA1-4648-BC1A-09921F7009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5E6-721F-4037-B0DC-A5DAF1D88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9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F731-0DA1-4648-BC1A-09921F7009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5E6-721F-4037-B0DC-A5DAF1D882E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46886-E293-44C6-E6F1-6392D4FAF801}"/>
              </a:ext>
            </a:extLst>
          </p:cNvPr>
          <p:cNvSpPr txBox="1"/>
          <p:nvPr userDrawn="1"/>
        </p:nvSpPr>
        <p:spPr>
          <a:xfrm>
            <a:off x="118158" y="217871"/>
            <a:ext cx="12191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rPr>
              <a:t>Ecommerce Business Proposal PPT</a:t>
            </a:r>
          </a:p>
        </p:txBody>
      </p:sp>
    </p:spTree>
    <p:extLst>
      <p:ext uri="{BB962C8B-B14F-4D97-AF65-F5344CB8AC3E}">
        <p14:creationId xmlns:p14="http://schemas.microsoft.com/office/powerpoint/2010/main" val="248067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F731-0DA1-4648-BC1A-09921F7009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5E6-721F-4037-B0DC-A5DAF1D88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40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F731-0DA1-4648-BC1A-09921F7009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5E6-721F-4037-B0DC-A5DAF1D88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2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F731-0DA1-4648-BC1A-09921F7009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5E6-721F-4037-B0DC-A5DAF1D88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41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F731-0DA1-4648-BC1A-09921F7009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5E6-721F-4037-B0DC-A5DAF1D88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39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997F731-0DA1-4648-BC1A-09921F7009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43E75E6-721F-4037-B0DC-A5DAF1D88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95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nabihazahid/ecommerce-dataset-for-sql-analysi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A82123AC-1A1A-85F2-DEC5-F3FC63438DE1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97C991-E1F4-0FCC-43A7-F92EF65AD8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42F0E5-DE81-34B8-E571-0142925D6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DF2C77-179A-7CD1-F48D-B8D132A312E4}"/>
              </a:ext>
            </a:extLst>
          </p:cNvPr>
          <p:cNvSpPr txBox="1"/>
          <p:nvPr/>
        </p:nvSpPr>
        <p:spPr>
          <a:xfrm>
            <a:off x="1045030" y="3275044"/>
            <a:ext cx="97598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Ecommerce Dataset</a:t>
            </a:r>
          </a:p>
          <a:p>
            <a:r>
              <a:rPr lang="en-US" sz="3600" b="1" i="1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3600" b="1" i="1" dirty="0"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3600" b="1" i="1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 P.ABIRAMI SOUNDHARYA</a:t>
            </a:r>
          </a:p>
          <a:p>
            <a:pPr algn="r"/>
            <a:r>
              <a:rPr lang="en-US" sz="3600" b="1" i="1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 OCT BATCH 2025</a:t>
            </a:r>
          </a:p>
          <a:p>
            <a:pPr algn="ctr"/>
            <a:endParaRPr lang="en-US" sz="3600" b="1" i="1" dirty="0"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i="1" dirty="0"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450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3B8F7EE-9DED-7728-5A24-C317D2EA01AA}"/>
              </a:ext>
            </a:extLst>
          </p:cNvPr>
          <p:cNvGrpSpPr/>
          <p:nvPr/>
        </p:nvGrpSpPr>
        <p:grpSpPr>
          <a:xfrm>
            <a:off x="795490" y="651731"/>
            <a:ext cx="10677285" cy="5554539"/>
            <a:chOff x="1153290" y="647590"/>
            <a:chExt cx="10677285" cy="5554539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F929CCF-B7D4-28F1-1473-9779A5B26649}"/>
                </a:ext>
              </a:extLst>
            </p:cNvPr>
            <p:cNvSpPr txBox="1"/>
            <p:nvPr/>
          </p:nvSpPr>
          <p:spPr>
            <a:xfrm>
              <a:off x="7872657" y="2270697"/>
              <a:ext cx="395791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8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AGENDA</a:t>
              </a:r>
              <a:r>
                <a:rPr lang="en-US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64C6B50-B195-4B21-348C-0DC562525D8B}"/>
                </a:ext>
              </a:extLst>
            </p:cNvPr>
            <p:cNvGrpSpPr/>
            <p:nvPr/>
          </p:nvGrpSpPr>
          <p:grpSpPr>
            <a:xfrm>
              <a:off x="1153290" y="647590"/>
              <a:ext cx="5775863" cy="5554539"/>
              <a:chOff x="3097159" y="1107832"/>
              <a:chExt cx="5775863" cy="5554539"/>
            </a:xfrm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7EF26F8A-06BA-C890-31F8-05F6C9C84D46}"/>
                  </a:ext>
                </a:extLst>
              </p:cNvPr>
              <p:cNvSpPr/>
              <p:nvPr/>
            </p:nvSpPr>
            <p:spPr>
              <a:xfrm>
                <a:off x="3318730" y="3027727"/>
                <a:ext cx="1913230" cy="1714501"/>
              </a:xfrm>
              <a:custGeom>
                <a:avLst/>
                <a:gdLst>
                  <a:gd name="connsiteX0" fmla="*/ 1913206 w 1913230"/>
                  <a:gd name="connsiteY0" fmla="*/ 1098540 h 1714501"/>
                  <a:gd name="connsiteX1" fmla="*/ 1913206 w 1913230"/>
                  <a:gd name="connsiteY1" fmla="*/ 616159 h 1714501"/>
                  <a:gd name="connsiteX2" fmla="*/ 425329 w 1913230"/>
                  <a:gd name="connsiteY2" fmla="*/ -25 h 1714501"/>
                  <a:gd name="connsiteX3" fmla="*/ -25 w 1913230"/>
                  <a:gd name="connsiteY3" fmla="*/ 284121 h 1714501"/>
                  <a:gd name="connsiteX4" fmla="*/ -25 w 1913230"/>
                  <a:gd name="connsiteY4" fmla="*/ 1430578 h 1714501"/>
                  <a:gd name="connsiteX5" fmla="*/ 425329 w 1913230"/>
                  <a:gd name="connsiteY5" fmla="*/ 1714477 h 171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13230" h="1714501">
                    <a:moveTo>
                      <a:pt x="1913206" y="1098540"/>
                    </a:moveTo>
                    <a:lnTo>
                      <a:pt x="1913206" y="616159"/>
                    </a:lnTo>
                    <a:lnTo>
                      <a:pt x="425329" y="-25"/>
                    </a:lnTo>
                    <a:lnTo>
                      <a:pt x="-25" y="284121"/>
                    </a:lnTo>
                    <a:lnTo>
                      <a:pt x="-25" y="1430578"/>
                    </a:lnTo>
                    <a:lnTo>
                      <a:pt x="425329" y="1714477"/>
                    </a:lnTo>
                    <a:close/>
                  </a:path>
                </a:pathLst>
              </a:custGeom>
              <a:solidFill>
                <a:schemeClr val="accent6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08171D80-3F90-3330-FF9E-3F9861B75B69}"/>
                  </a:ext>
                </a:extLst>
              </p:cNvPr>
              <p:cNvSpPr/>
              <p:nvPr/>
            </p:nvSpPr>
            <p:spPr>
              <a:xfrm>
                <a:off x="3744084" y="3027727"/>
                <a:ext cx="748011" cy="1404928"/>
              </a:xfrm>
              <a:custGeom>
                <a:avLst/>
                <a:gdLst>
                  <a:gd name="connsiteX0" fmla="*/ 0 w 748011"/>
                  <a:gd name="connsiteY0" fmla="*/ 0 h 1404928"/>
                  <a:gd name="connsiteX1" fmla="*/ 748011 w 748011"/>
                  <a:gd name="connsiteY1" fmla="*/ 1404928 h 1404928"/>
                  <a:gd name="connsiteX2" fmla="*/ 748011 w 748011"/>
                  <a:gd name="connsiteY2" fmla="*/ 309820 h 1404928"/>
                  <a:gd name="connsiteX3" fmla="*/ 0 w 748011"/>
                  <a:gd name="connsiteY3" fmla="*/ 0 h 140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8011" h="1404928">
                    <a:moveTo>
                      <a:pt x="0" y="0"/>
                    </a:moveTo>
                    <a:lnTo>
                      <a:pt x="748011" y="1404928"/>
                    </a:lnTo>
                    <a:lnTo>
                      <a:pt x="748011" y="309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68317CBE-59E6-65BA-9189-3E5D30000DDA}"/>
                  </a:ext>
                </a:extLst>
              </p:cNvPr>
              <p:cNvSpPr/>
              <p:nvPr/>
            </p:nvSpPr>
            <p:spPr>
              <a:xfrm>
                <a:off x="4401859" y="3337547"/>
                <a:ext cx="830101" cy="1095108"/>
              </a:xfrm>
              <a:custGeom>
                <a:avLst/>
                <a:gdLst>
                  <a:gd name="connsiteX0" fmla="*/ 830076 w 830101"/>
                  <a:gd name="connsiteY0" fmla="*/ 306339 h 1095108"/>
                  <a:gd name="connsiteX1" fmla="*/ 90458 w 830101"/>
                  <a:gd name="connsiteY1" fmla="*/ -25 h 1095108"/>
                  <a:gd name="connsiteX2" fmla="*/ 90458 w 830101"/>
                  <a:gd name="connsiteY2" fmla="*/ 1095083 h 1095108"/>
                  <a:gd name="connsiteX3" fmla="*/ 830076 w 830101"/>
                  <a:gd name="connsiteY3" fmla="*/ 788720 h 1095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0101" h="1095108">
                    <a:moveTo>
                      <a:pt x="830076" y="306339"/>
                    </a:moveTo>
                    <a:lnTo>
                      <a:pt x="90458" y="-25"/>
                    </a:lnTo>
                    <a:cubicBezTo>
                      <a:pt x="-30186" y="355046"/>
                      <a:pt x="-30186" y="740013"/>
                      <a:pt x="90458" y="1095083"/>
                    </a:cubicBezTo>
                    <a:lnTo>
                      <a:pt x="830076" y="788720"/>
                    </a:lnTo>
                    <a:close/>
                  </a:path>
                </a:pathLst>
              </a:custGeom>
              <a:solidFill>
                <a:schemeClr val="accent6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91C9FA-7DF6-1019-DFFA-54A3DA1D3FA9}"/>
                  </a:ext>
                </a:extLst>
              </p:cNvPr>
              <p:cNvSpPr txBox="1"/>
              <p:nvPr/>
            </p:nvSpPr>
            <p:spPr>
              <a:xfrm>
                <a:off x="4628391" y="3626211"/>
                <a:ext cx="333746" cy="4501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325" b="1" spc="0" baseline="0">
                    <a:ln/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7</a:t>
                </a: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60783A0-F21A-358E-5737-0E356212590C}"/>
                  </a:ext>
                </a:extLst>
              </p:cNvPr>
              <p:cNvSpPr/>
              <p:nvPr/>
            </p:nvSpPr>
            <p:spPr>
              <a:xfrm>
                <a:off x="6960039" y="3027727"/>
                <a:ext cx="1912983" cy="1714748"/>
              </a:xfrm>
              <a:custGeom>
                <a:avLst/>
                <a:gdLst>
                  <a:gd name="connsiteX0" fmla="*/ 1487851 w 1912983"/>
                  <a:gd name="connsiteY0" fmla="*/ -25 h 1714748"/>
                  <a:gd name="connsiteX1" fmla="*/ -25 w 1912983"/>
                  <a:gd name="connsiteY1" fmla="*/ 616159 h 1714748"/>
                  <a:gd name="connsiteX2" fmla="*/ -25 w 1912983"/>
                  <a:gd name="connsiteY2" fmla="*/ 1098540 h 1714748"/>
                  <a:gd name="connsiteX3" fmla="*/ 1487604 w 1912983"/>
                  <a:gd name="connsiteY3" fmla="*/ 1714723 h 1714748"/>
                  <a:gd name="connsiteX4" fmla="*/ 1912959 w 1912983"/>
                  <a:gd name="connsiteY4" fmla="*/ 1430825 h 1714748"/>
                  <a:gd name="connsiteX5" fmla="*/ 1912959 w 1912983"/>
                  <a:gd name="connsiteY5" fmla="*/ 284121 h 1714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12983" h="1714748">
                    <a:moveTo>
                      <a:pt x="1487851" y="-25"/>
                    </a:moveTo>
                    <a:lnTo>
                      <a:pt x="-25" y="616159"/>
                    </a:lnTo>
                    <a:lnTo>
                      <a:pt x="-25" y="1098540"/>
                    </a:lnTo>
                    <a:lnTo>
                      <a:pt x="1487604" y="1714723"/>
                    </a:lnTo>
                    <a:lnTo>
                      <a:pt x="1912959" y="1430825"/>
                    </a:lnTo>
                    <a:lnTo>
                      <a:pt x="1912959" y="284121"/>
                    </a:lnTo>
                    <a:close/>
                  </a:path>
                </a:pathLst>
              </a:custGeom>
              <a:solidFill>
                <a:schemeClr val="accent2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4170BC1A-91E9-7A45-0276-14EC702F96C9}"/>
                  </a:ext>
                </a:extLst>
              </p:cNvPr>
              <p:cNvSpPr/>
              <p:nvPr/>
            </p:nvSpPr>
            <p:spPr>
              <a:xfrm>
                <a:off x="7699904" y="3337547"/>
                <a:ext cx="748011" cy="1404928"/>
              </a:xfrm>
              <a:custGeom>
                <a:avLst/>
                <a:gdLst>
                  <a:gd name="connsiteX0" fmla="*/ 0 w 748011"/>
                  <a:gd name="connsiteY0" fmla="*/ 0 h 1404928"/>
                  <a:gd name="connsiteX1" fmla="*/ 748011 w 748011"/>
                  <a:gd name="connsiteY1" fmla="*/ 1404928 h 1404928"/>
                  <a:gd name="connsiteX2" fmla="*/ 0 w 748011"/>
                  <a:gd name="connsiteY2" fmla="*/ 1095108 h 1404928"/>
                  <a:gd name="connsiteX3" fmla="*/ 0 w 748011"/>
                  <a:gd name="connsiteY3" fmla="*/ 0 h 140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8011" h="1404928">
                    <a:moveTo>
                      <a:pt x="0" y="0"/>
                    </a:moveTo>
                    <a:lnTo>
                      <a:pt x="748011" y="1404928"/>
                    </a:lnTo>
                    <a:lnTo>
                      <a:pt x="0" y="1095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ED197D9-688F-CDD2-F2E1-95C800A18BAA}"/>
                  </a:ext>
                </a:extLst>
              </p:cNvPr>
              <p:cNvSpPr/>
              <p:nvPr/>
            </p:nvSpPr>
            <p:spPr>
              <a:xfrm>
                <a:off x="6960039" y="3337547"/>
                <a:ext cx="830101" cy="1095108"/>
              </a:xfrm>
              <a:custGeom>
                <a:avLst/>
                <a:gdLst>
                  <a:gd name="connsiteX0" fmla="*/ -25 w 830101"/>
                  <a:gd name="connsiteY0" fmla="*/ 788720 h 1095108"/>
                  <a:gd name="connsiteX1" fmla="*/ 739593 w 830101"/>
                  <a:gd name="connsiteY1" fmla="*/ 1095083 h 1095108"/>
                  <a:gd name="connsiteX2" fmla="*/ 739593 w 830101"/>
                  <a:gd name="connsiteY2" fmla="*/ -25 h 1095108"/>
                  <a:gd name="connsiteX3" fmla="*/ -25 w 830101"/>
                  <a:gd name="connsiteY3" fmla="*/ 306339 h 1095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0101" h="1095108">
                    <a:moveTo>
                      <a:pt x="-25" y="788720"/>
                    </a:moveTo>
                    <a:lnTo>
                      <a:pt x="739593" y="1095083"/>
                    </a:lnTo>
                    <a:cubicBezTo>
                      <a:pt x="860238" y="740013"/>
                      <a:pt x="860238" y="355046"/>
                      <a:pt x="739593" y="-25"/>
                    </a:cubicBezTo>
                    <a:lnTo>
                      <a:pt x="-25" y="306339"/>
                    </a:lnTo>
                    <a:close/>
                  </a:path>
                </a:pathLst>
              </a:custGeom>
              <a:solidFill>
                <a:schemeClr val="accent2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9B7CAF2-4899-6ACD-783F-B2C772B84AB1}"/>
                  </a:ext>
                </a:extLst>
              </p:cNvPr>
              <p:cNvSpPr txBox="1"/>
              <p:nvPr/>
            </p:nvSpPr>
            <p:spPr>
              <a:xfrm>
                <a:off x="7186936" y="3626211"/>
                <a:ext cx="333746" cy="4501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325" b="1" spc="0" baseline="0" dirty="0">
                    <a:ln/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3</a:t>
                </a: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994B0C9-4222-8DBD-1F46-0650BA272CF3}"/>
                  </a:ext>
                </a:extLst>
              </p:cNvPr>
              <p:cNvSpPr/>
              <p:nvPr/>
            </p:nvSpPr>
            <p:spPr>
              <a:xfrm>
                <a:off x="6536660" y="1515905"/>
                <a:ext cx="1928536" cy="1928536"/>
              </a:xfrm>
              <a:custGeom>
                <a:avLst/>
                <a:gdLst>
                  <a:gd name="connsiteX0" fmla="*/ 341023 w 1928536"/>
                  <a:gd name="connsiteY0" fmla="*/ 1928511 h 1928536"/>
                  <a:gd name="connsiteX1" fmla="*/ 1828653 w 1928536"/>
                  <a:gd name="connsiteY1" fmla="*/ 1312328 h 1928536"/>
                  <a:gd name="connsiteX2" fmla="*/ 1928511 w 1928536"/>
                  <a:gd name="connsiteY2" fmla="*/ 810691 h 1928536"/>
                  <a:gd name="connsiteX3" fmla="*/ 1117795 w 1928536"/>
                  <a:gd name="connsiteY3" fmla="*/ -25 h 1928536"/>
                  <a:gd name="connsiteX4" fmla="*/ 616158 w 1928536"/>
                  <a:gd name="connsiteY4" fmla="*/ 99833 h 1928536"/>
                  <a:gd name="connsiteX5" fmla="*/ -25 w 1928536"/>
                  <a:gd name="connsiteY5" fmla="*/ 1587463 h 1928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28536" h="1928536">
                    <a:moveTo>
                      <a:pt x="341023" y="1928511"/>
                    </a:moveTo>
                    <a:lnTo>
                      <a:pt x="1828653" y="1312328"/>
                    </a:lnTo>
                    <a:cubicBezTo>
                      <a:pt x="1871485" y="1097305"/>
                      <a:pt x="1885680" y="1025713"/>
                      <a:pt x="1928511" y="810691"/>
                    </a:cubicBezTo>
                    <a:lnTo>
                      <a:pt x="1117795" y="-25"/>
                    </a:lnTo>
                    <a:lnTo>
                      <a:pt x="616158" y="99833"/>
                    </a:lnTo>
                    <a:lnTo>
                      <a:pt x="-25" y="1587463"/>
                    </a:lnTo>
                    <a:close/>
                  </a:path>
                </a:pathLst>
              </a:custGeom>
              <a:solidFill>
                <a:schemeClr val="accent1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19CD2F1-D7A4-4085-FBE9-9636EF998194}"/>
                  </a:ext>
                </a:extLst>
              </p:cNvPr>
              <p:cNvSpPr/>
              <p:nvPr/>
            </p:nvSpPr>
            <p:spPr>
              <a:xfrm>
                <a:off x="6842900" y="2364022"/>
                <a:ext cx="1522437" cy="774179"/>
              </a:xfrm>
              <a:custGeom>
                <a:avLst/>
                <a:gdLst>
                  <a:gd name="connsiteX0" fmla="*/ 0 w 1522437"/>
                  <a:gd name="connsiteY0" fmla="*/ 0 h 774179"/>
                  <a:gd name="connsiteX1" fmla="*/ 1522438 w 1522437"/>
                  <a:gd name="connsiteY1" fmla="*/ 464236 h 774179"/>
                  <a:gd name="connsiteX2" fmla="*/ 774179 w 1522437"/>
                  <a:gd name="connsiteY2" fmla="*/ 774180 h 774179"/>
                  <a:gd name="connsiteX3" fmla="*/ 0 w 1522437"/>
                  <a:gd name="connsiteY3" fmla="*/ 0 h 774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2437" h="774179">
                    <a:moveTo>
                      <a:pt x="0" y="0"/>
                    </a:moveTo>
                    <a:lnTo>
                      <a:pt x="1522438" y="464236"/>
                    </a:lnTo>
                    <a:lnTo>
                      <a:pt x="774179" y="774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31300002-6BE6-BBBB-F243-703711CF30D8}"/>
                  </a:ext>
                </a:extLst>
              </p:cNvPr>
              <p:cNvSpPr/>
              <p:nvPr/>
            </p:nvSpPr>
            <p:spPr>
              <a:xfrm>
                <a:off x="6536660" y="2364022"/>
                <a:ext cx="1080419" cy="1080419"/>
              </a:xfrm>
              <a:custGeom>
                <a:avLst/>
                <a:gdLst>
                  <a:gd name="connsiteX0" fmla="*/ 306215 w 1080419"/>
                  <a:gd name="connsiteY0" fmla="*/ -25 h 1080419"/>
                  <a:gd name="connsiteX1" fmla="*/ -25 w 1080419"/>
                  <a:gd name="connsiteY1" fmla="*/ 739346 h 1080419"/>
                  <a:gd name="connsiteX2" fmla="*/ 341023 w 1080419"/>
                  <a:gd name="connsiteY2" fmla="*/ 1080395 h 1080419"/>
                  <a:gd name="connsiteX3" fmla="*/ 1080395 w 1080419"/>
                  <a:gd name="connsiteY3" fmla="*/ 774155 h 1080419"/>
                  <a:gd name="connsiteX4" fmla="*/ 306215 w 1080419"/>
                  <a:gd name="connsiteY4" fmla="*/ -25 h 1080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0419" h="1080419">
                    <a:moveTo>
                      <a:pt x="306215" y="-25"/>
                    </a:moveTo>
                    <a:lnTo>
                      <a:pt x="-25" y="739346"/>
                    </a:lnTo>
                    <a:lnTo>
                      <a:pt x="341023" y="1080395"/>
                    </a:lnTo>
                    <a:lnTo>
                      <a:pt x="1080395" y="774155"/>
                    </a:lnTo>
                    <a:cubicBezTo>
                      <a:pt x="914746" y="437796"/>
                      <a:pt x="642574" y="165624"/>
                      <a:pt x="306215" y="-2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99C14CC-2DE2-39B2-104E-432DFEC40BD7}"/>
                  </a:ext>
                </a:extLst>
              </p:cNvPr>
              <p:cNvSpPr txBox="1"/>
              <p:nvPr/>
            </p:nvSpPr>
            <p:spPr>
              <a:xfrm>
                <a:off x="6771950" y="2705268"/>
                <a:ext cx="333746" cy="4501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325" b="1" spc="0" baseline="0">
                    <a:ln/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</a:t>
                </a: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3E7575F-7CC1-3FE8-428E-7D1574DB3B65}"/>
                  </a:ext>
                </a:extLst>
              </p:cNvPr>
              <p:cNvSpPr/>
              <p:nvPr/>
            </p:nvSpPr>
            <p:spPr>
              <a:xfrm>
                <a:off x="5238872" y="1107832"/>
                <a:ext cx="1714501" cy="1913230"/>
              </a:xfrm>
              <a:custGeom>
                <a:avLst/>
                <a:gdLst>
                  <a:gd name="connsiteX0" fmla="*/ 1098293 w 1714501"/>
                  <a:gd name="connsiteY0" fmla="*/ 1913206 h 1913230"/>
                  <a:gd name="connsiteX1" fmla="*/ 1714476 w 1714501"/>
                  <a:gd name="connsiteY1" fmla="*/ 425329 h 1913230"/>
                  <a:gd name="connsiteX2" fmla="*/ 1430331 w 1714501"/>
                  <a:gd name="connsiteY2" fmla="*/ -25 h 1913230"/>
                  <a:gd name="connsiteX3" fmla="*/ 283874 w 1714501"/>
                  <a:gd name="connsiteY3" fmla="*/ -25 h 1913230"/>
                  <a:gd name="connsiteX4" fmla="*/ -25 w 1714501"/>
                  <a:gd name="connsiteY4" fmla="*/ 425329 h 1913230"/>
                  <a:gd name="connsiteX5" fmla="*/ 615912 w 1714501"/>
                  <a:gd name="connsiteY5" fmla="*/ 1913206 h 1913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14501" h="1913230">
                    <a:moveTo>
                      <a:pt x="1098293" y="1913206"/>
                    </a:moveTo>
                    <a:lnTo>
                      <a:pt x="1714476" y="425329"/>
                    </a:lnTo>
                    <a:lnTo>
                      <a:pt x="1430331" y="-25"/>
                    </a:lnTo>
                    <a:lnTo>
                      <a:pt x="283874" y="-25"/>
                    </a:lnTo>
                    <a:lnTo>
                      <a:pt x="-25" y="425329"/>
                    </a:lnTo>
                    <a:lnTo>
                      <a:pt x="615912" y="1913206"/>
                    </a:lnTo>
                    <a:close/>
                  </a:path>
                </a:pathLst>
              </a:custGeom>
              <a:solidFill>
                <a:schemeClr val="tx2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6BC95BD0-7A64-0DBB-36DB-237833BF2FE1}"/>
                  </a:ext>
                </a:extLst>
              </p:cNvPr>
              <p:cNvSpPr/>
              <p:nvPr/>
            </p:nvSpPr>
            <p:spPr>
              <a:xfrm>
                <a:off x="5548445" y="1533186"/>
                <a:ext cx="1404928" cy="748011"/>
              </a:xfrm>
              <a:custGeom>
                <a:avLst/>
                <a:gdLst>
                  <a:gd name="connsiteX0" fmla="*/ 0 w 1404928"/>
                  <a:gd name="connsiteY0" fmla="*/ 748011 h 748011"/>
                  <a:gd name="connsiteX1" fmla="*/ 1404928 w 1404928"/>
                  <a:gd name="connsiteY1" fmla="*/ 0 h 748011"/>
                  <a:gd name="connsiteX2" fmla="*/ 1095108 w 1404928"/>
                  <a:gd name="connsiteY2" fmla="*/ 748011 h 748011"/>
                  <a:gd name="connsiteX3" fmla="*/ 0 w 1404928"/>
                  <a:gd name="connsiteY3" fmla="*/ 748011 h 748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4928" h="748011">
                    <a:moveTo>
                      <a:pt x="0" y="748011"/>
                    </a:moveTo>
                    <a:lnTo>
                      <a:pt x="1404928" y="0"/>
                    </a:lnTo>
                    <a:lnTo>
                      <a:pt x="1095108" y="748011"/>
                    </a:lnTo>
                    <a:lnTo>
                      <a:pt x="0" y="748011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D550ED6-FBB0-C381-7C3E-275AAF43FB42}"/>
                  </a:ext>
                </a:extLst>
              </p:cNvPr>
              <p:cNvSpPr/>
              <p:nvPr/>
            </p:nvSpPr>
            <p:spPr>
              <a:xfrm>
                <a:off x="5548445" y="2190961"/>
                <a:ext cx="1095108" cy="830101"/>
              </a:xfrm>
              <a:custGeom>
                <a:avLst/>
                <a:gdLst>
                  <a:gd name="connsiteX0" fmla="*/ -25 w 1095108"/>
                  <a:gd name="connsiteY0" fmla="*/ 90212 h 830101"/>
                  <a:gd name="connsiteX1" fmla="*/ 306339 w 1095108"/>
                  <a:gd name="connsiteY1" fmla="*/ 830076 h 830101"/>
                  <a:gd name="connsiteX2" fmla="*/ 788720 w 1095108"/>
                  <a:gd name="connsiteY2" fmla="*/ 830076 h 830101"/>
                  <a:gd name="connsiteX3" fmla="*/ 1095083 w 1095108"/>
                  <a:gd name="connsiteY3" fmla="*/ 90458 h 830101"/>
                  <a:gd name="connsiteX4" fmla="*/ -25 w 1095108"/>
                  <a:gd name="connsiteY4" fmla="*/ 90458 h 830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5108" h="830101">
                    <a:moveTo>
                      <a:pt x="-25" y="90212"/>
                    </a:moveTo>
                    <a:lnTo>
                      <a:pt x="306339" y="830076"/>
                    </a:lnTo>
                    <a:lnTo>
                      <a:pt x="788720" y="830076"/>
                    </a:lnTo>
                    <a:lnTo>
                      <a:pt x="1095083" y="90458"/>
                    </a:lnTo>
                    <a:cubicBezTo>
                      <a:pt x="740013" y="-30186"/>
                      <a:pt x="355046" y="-30186"/>
                      <a:pt x="-25" y="90458"/>
                    </a:cubicBezTo>
                    <a:close/>
                  </a:path>
                </a:pathLst>
              </a:custGeom>
              <a:solidFill>
                <a:schemeClr val="tx2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43878E4-7BDD-13C0-CDC5-027287FDFE01}"/>
                  </a:ext>
                </a:extLst>
              </p:cNvPr>
              <p:cNvSpPr txBox="1"/>
              <p:nvPr/>
            </p:nvSpPr>
            <p:spPr>
              <a:xfrm>
                <a:off x="5907664" y="2359775"/>
                <a:ext cx="333746" cy="4501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325" b="1" spc="0" baseline="0" dirty="0">
                    <a:ln/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1</a:t>
                </a: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1046462C-F2AA-06BE-D2E8-78B3ECE3E9EB}"/>
                  </a:ext>
                </a:extLst>
              </p:cNvPr>
              <p:cNvSpPr/>
              <p:nvPr/>
            </p:nvSpPr>
            <p:spPr>
              <a:xfrm>
                <a:off x="5238625" y="4749141"/>
                <a:ext cx="1714254" cy="1913230"/>
              </a:xfrm>
              <a:custGeom>
                <a:avLst/>
                <a:gdLst>
                  <a:gd name="connsiteX0" fmla="*/ 616159 w 1714254"/>
                  <a:gd name="connsiteY0" fmla="*/ -25 h 1913230"/>
                  <a:gd name="connsiteX1" fmla="*/ -25 w 1714254"/>
                  <a:gd name="connsiteY1" fmla="*/ 1487851 h 1913230"/>
                  <a:gd name="connsiteX2" fmla="*/ 283874 w 1714254"/>
                  <a:gd name="connsiteY2" fmla="*/ 1913206 h 1913230"/>
                  <a:gd name="connsiteX3" fmla="*/ 1430331 w 1714254"/>
                  <a:gd name="connsiteY3" fmla="*/ 1913206 h 1913230"/>
                  <a:gd name="connsiteX4" fmla="*/ 1714230 w 1714254"/>
                  <a:gd name="connsiteY4" fmla="*/ 1487851 h 1913230"/>
                  <a:gd name="connsiteX5" fmla="*/ 1098540 w 1714254"/>
                  <a:gd name="connsiteY5" fmla="*/ -25 h 1913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14254" h="1913230">
                    <a:moveTo>
                      <a:pt x="616159" y="-25"/>
                    </a:moveTo>
                    <a:lnTo>
                      <a:pt x="-25" y="1487851"/>
                    </a:lnTo>
                    <a:lnTo>
                      <a:pt x="283874" y="1913206"/>
                    </a:lnTo>
                    <a:lnTo>
                      <a:pt x="1430331" y="1913206"/>
                    </a:lnTo>
                    <a:lnTo>
                      <a:pt x="1714230" y="1487851"/>
                    </a:lnTo>
                    <a:lnTo>
                      <a:pt x="1098540" y="-25"/>
                    </a:lnTo>
                    <a:close/>
                  </a:path>
                </a:pathLst>
              </a:custGeom>
              <a:solidFill>
                <a:schemeClr val="accent4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9B6099D2-3A4F-7B50-6259-71BB322B13A0}"/>
                  </a:ext>
                </a:extLst>
              </p:cNvPr>
              <p:cNvSpPr/>
              <p:nvPr/>
            </p:nvSpPr>
            <p:spPr>
              <a:xfrm>
                <a:off x="5238625" y="5489006"/>
                <a:ext cx="1404928" cy="748011"/>
              </a:xfrm>
              <a:custGeom>
                <a:avLst/>
                <a:gdLst>
                  <a:gd name="connsiteX0" fmla="*/ 0 w 1404928"/>
                  <a:gd name="connsiteY0" fmla="*/ 748011 h 748011"/>
                  <a:gd name="connsiteX1" fmla="*/ 1404928 w 1404928"/>
                  <a:gd name="connsiteY1" fmla="*/ 0 h 748011"/>
                  <a:gd name="connsiteX2" fmla="*/ 309820 w 1404928"/>
                  <a:gd name="connsiteY2" fmla="*/ 0 h 748011"/>
                  <a:gd name="connsiteX3" fmla="*/ 0 w 1404928"/>
                  <a:gd name="connsiteY3" fmla="*/ 748011 h 748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4928" h="748011">
                    <a:moveTo>
                      <a:pt x="0" y="748011"/>
                    </a:moveTo>
                    <a:lnTo>
                      <a:pt x="1404928" y="0"/>
                    </a:lnTo>
                    <a:lnTo>
                      <a:pt x="309820" y="0"/>
                    </a:lnTo>
                    <a:lnTo>
                      <a:pt x="0" y="748011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27B36927-1A35-4DF7-69E6-D3D412CFF4DA}"/>
                  </a:ext>
                </a:extLst>
              </p:cNvPr>
              <p:cNvSpPr/>
              <p:nvPr/>
            </p:nvSpPr>
            <p:spPr>
              <a:xfrm>
                <a:off x="5548445" y="4749141"/>
                <a:ext cx="1095108" cy="830101"/>
              </a:xfrm>
              <a:custGeom>
                <a:avLst/>
                <a:gdLst>
                  <a:gd name="connsiteX0" fmla="*/ 1095083 w 1095108"/>
                  <a:gd name="connsiteY0" fmla="*/ 739840 h 830101"/>
                  <a:gd name="connsiteX1" fmla="*/ 788720 w 1095108"/>
                  <a:gd name="connsiteY1" fmla="*/ -25 h 830101"/>
                  <a:gd name="connsiteX2" fmla="*/ 306339 w 1095108"/>
                  <a:gd name="connsiteY2" fmla="*/ -25 h 830101"/>
                  <a:gd name="connsiteX3" fmla="*/ -25 w 1095108"/>
                  <a:gd name="connsiteY3" fmla="*/ 739593 h 830101"/>
                  <a:gd name="connsiteX4" fmla="*/ 1095083 w 1095108"/>
                  <a:gd name="connsiteY4" fmla="*/ 739593 h 830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5108" h="830101">
                    <a:moveTo>
                      <a:pt x="1095083" y="739840"/>
                    </a:moveTo>
                    <a:lnTo>
                      <a:pt x="788720" y="-25"/>
                    </a:lnTo>
                    <a:lnTo>
                      <a:pt x="306339" y="-25"/>
                    </a:lnTo>
                    <a:lnTo>
                      <a:pt x="-25" y="739593"/>
                    </a:lnTo>
                    <a:cubicBezTo>
                      <a:pt x="355046" y="860238"/>
                      <a:pt x="740013" y="860238"/>
                      <a:pt x="1095083" y="73959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0C041F9-602A-4283-FA75-3E90E5D1E3EE}"/>
                  </a:ext>
                </a:extLst>
              </p:cNvPr>
              <p:cNvSpPr txBox="1"/>
              <p:nvPr/>
            </p:nvSpPr>
            <p:spPr>
              <a:xfrm>
                <a:off x="5907664" y="4916592"/>
                <a:ext cx="333746" cy="4501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325" b="1" spc="0" baseline="0">
                    <a:ln/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51DA760-1606-28B1-DB08-6642E22BE5EF}"/>
                  </a:ext>
                </a:extLst>
              </p:cNvPr>
              <p:cNvSpPr/>
              <p:nvPr/>
            </p:nvSpPr>
            <p:spPr>
              <a:xfrm>
                <a:off x="3726803" y="1515905"/>
                <a:ext cx="1928536" cy="1928536"/>
              </a:xfrm>
              <a:custGeom>
                <a:avLst/>
                <a:gdLst>
                  <a:gd name="connsiteX0" fmla="*/ 1587463 w 1928536"/>
                  <a:gd name="connsiteY0" fmla="*/ 1928511 h 1928536"/>
                  <a:gd name="connsiteX1" fmla="*/ 1928511 w 1928536"/>
                  <a:gd name="connsiteY1" fmla="*/ 1587463 h 1928536"/>
                  <a:gd name="connsiteX2" fmla="*/ 1312328 w 1928536"/>
                  <a:gd name="connsiteY2" fmla="*/ 99833 h 1928536"/>
                  <a:gd name="connsiteX3" fmla="*/ 810691 w 1928536"/>
                  <a:gd name="connsiteY3" fmla="*/ -25 h 1928536"/>
                  <a:gd name="connsiteX4" fmla="*/ -25 w 1928536"/>
                  <a:gd name="connsiteY4" fmla="*/ 810691 h 1928536"/>
                  <a:gd name="connsiteX5" fmla="*/ 99833 w 1928536"/>
                  <a:gd name="connsiteY5" fmla="*/ 1312328 h 1928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28536" h="1928536">
                    <a:moveTo>
                      <a:pt x="1587463" y="1928511"/>
                    </a:moveTo>
                    <a:lnTo>
                      <a:pt x="1928511" y="1587463"/>
                    </a:lnTo>
                    <a:lnTo>
                      <a:pt x="1312328" y="99833"/>
                    </a:lnTo>
                    <a:lnTo>
                      <a:pt x="810691" y="-25"/>
                    </a:lnTo>
                    <a:lnTo>
                      <a:pt x="-25" y="810691"/>
                    </a:lnTo>
                    <a:cubicBezTo>
                      <a:pt x="42807" y="1025713"/>
                      <a:pt x="57002" y="1097305"/>
                      <a:pt x="99833" y="1312328"/>
                    </a:cubicBezTo>
                    <a:close/>
                  </a:path>
                </a:pathLst>
              </a:custGeom>
              <a:solidFill>
                <a:schemeClr val="bg2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A0FAB6D-1111-5B12-AA75-E11D92BFDDCF}"/>
                  </a:ext>
                </a:extLst>
              </p:cNvPr>
              <p:cNvSpPr/>
              <p:nvPr/>
            </p:nvSpPr>
            <p:spPr>
              <a:xfrm>
                <a:off x="4574920" y="1615763"/>
                <a:ext cx="774179" cy="1522437"/>
              </a:xfrm>
              <a:custGeom>
                <a:avLst/>
                <a:gdLst>
                  <a:gd name="connsiteX0" fmla="*/ 0 w 774179"/>
                  <a:gd name="connsiteY0" fmla="*/ 1522438 h 1522437"/>
                  <a:gd name="connsiteX1" fmla="*/ 464236 w 774179"/>
                  <a:gd name="connsiteY1" fmla="*/ 0 h 1522437"/>
                  <a:gd name="connsiteX2" fmla="*/ 774180 w 774179"/>
                  <a:gd name="connsiteY2" fmla="*/ 748258 h 1522437"/>
                  <a:gd name="connsiteX3" fmla="*/ 0 w 774179"/>
                  <a:gd name="connsiteY3" fmla="*/ 1522438 h 1522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4179" h="1522437">
                    <a:moveTo>
                      <a:pt x="0" y="1522438"/>
                    </a:moveTo>
                    <a:lnTo>
                      <a:pt x="464236" y="0"/>
                    </a:lnTo>
                    <a:lnTo>
                      <a:pt x="774180" y="748258"/>
                    </a:lnTo>
                    <a:lnTo>
                      <a:pt x="0" y="152243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55F5682-A1A5-5B66-AD5A-8844822308E6}"/>
                  </a:ext>
                </a:extLst>
              </p:cNvPr>
              <p:cNvSpPr/>
              <p:nvPr/>
            </p:nvSpPr>
            <p:spPr>
              <a:xfrm>
                <a:off x="4574920" y="2364022"/>
                <a:ext cx="1080419" cy="1080419"/>
              </a:xfrm>
              <a:custGeom>
                <a:avLst/>
                <a:gdLst>
                  <a:gd name="connsiteX0" fmla="*/ -25 w 1080419"/>
                  <a:gd name="connsiteY0" fmla="*/ 774155 h 1080419"/>
                  <a:gd name="connsiteX1" fmla="*/ 739346 w 1080419"/>
                  <a:gd name="connsiteY1" fmla="*/ 1080395 h 1080419"/>
                  <a:gd name="connsiteX2" fmla="*/ 1080395 w 1080419"/>
                  <a:gd name="connsiteY2" fmla="*/ 739346 h 1080419"/>
                  <a:gd name="connsiteX3" fmla="*/ 774155 w 1080419"/>
                  <a:gd name="connsiteY3" fmla="*/ -25 h 1080419"/>
                  <a:gd name="connsiteX4" fmla="*/ -25 w 1080419"/>
                  <a:gd name="connsiteY4" fmla="*/ 774155 h 1080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0419" h="1080419">
                    <a:moveTo>
                      <a:pt x="-25" y="774155"/>
                    </a:moveTo>
                    <a:lnTo>
                      <a:pt x="739346" y="1080395"/>
                    </a:lnTo>
                    <a:lnTo>
                      <a:pt x="1080395" y="739346"/>
                    </a:lnTo>
                    <a:lnTo>
                      <a:pt x="774155" y="-25"/>
                    </a:lnTo>
                    <a:cubicBezTo>
                      <a:pt x="437796" y="165624"/>
                      <a:pt x="165624" y="437796"/>
                      <a:pt x="-25" y="774155"/>
                    </a:cubicBezTo>
                    <a:close/>
                  </a:path>
                </a:pathLst>
              </a:custGeom>
              <a:solidFill>
                <a:schemeClr val="bg2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D3BD505-C75E-5888-10D1-BF657A9BF84E}"/>
                  </a:ext>
                </a:extLst>
              </p:cNvPr>
              <p:cNvSpPr txBox="1"/>
              <p:nvPr/>
            </p:nvSpPr>
            <p:spPr>
              <a:xfrm>
                <a:off x="5043377" y="2705268"/>
                <a:ext cx="333746" cy="4501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325" b="1" spc="0" baseline="0">
                    <a:ln/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8</a:t>
                </a: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7C73743A-F876-4F4F-5F57-2BD8CCEAB61D}"/>
                  </a:ext>
                </a:extLst>
              </p:cNvPr>
              <p:cNvSpPr/>
              <p:nvPr/>
            </p:nvSpPr>
            <p:spPr>
              <a:xfrm>
                <a:off x="6536660" y="4325762"/>
                <a:ext cx="1928412" cy="1928412"/>
              </a:xfrm>
              <a:custGeom>
                <a:avLst/>
                <a:gdLst>
                  <a:gd name="connsiteX0" fmla="*/ 341023 w 1928412"/>
                  <a:gd name="connsiteY0" fmla="*/ -25 h 1928412"/>
                  <a:gd name="connsiteX1" fmla="*/ -25 w 1928412"/>
                  <a:gd name="connsiteY1" fmla="*/ 341023 h 1928412"/>
                  <a:gd name="connsiteX2" fmla="*/ 616158 w 1928412"/>
                  <a:gd name="connsiteY2" fmla="*/ 1828653 h 1928412"/>
                  <a:gd name="connsiteX3" fmla="*/ 1117795 w 1928412"/>
                  <a:gd name="connsiteY3" fmla="*/ 1928388 h 1928412"/>
                  <a:gd name="connsiteX4" fmla="*/ 1928388 w 1928412"/>
                  <a:gd name="connsiteY4" fmla="*/ 1117795 h 1928412"/>
                  <a:gd name="connsiteX5" fmla="*/ 1828653 w 1928412"/>
                  <a:gd name="connsiteY5" fmla="*/ 616158 h 1928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28412" h="1928412">
                    <a:moveTo>
                      <a:pt x="341023" y="-25"/>
                    </a:moveTo>
                    <a:lnTo>
                      <a:pt x="-25" y="341023"/>
                    </a:lnTo>
                    <a:lnTo>
                      <a:pt x="616158" y="1828653"/>
                    </a:lnTo>
                    <a:lnTo>
                      <a:pt x="1117795" y="1928388"/>
                    </a:lnTo>
                    <a:lnTo>
                      <a:pt x="1928388" y="1117795"/>
                    </a:lnTo>
                    <a:cubicBezTo>
                      <a:pt x="1885680" y="902773"/>
                      <a:pt x="1871361" y="831181"/>
                      <a:pt x="1828653" y="61615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148ED5F-98C5-8763-F773-C38B6D284425}"/>
                  </a:ext>
                </a:extLst>
              </p:cNvPr>
              <p:cNvSpPr/>
              <p:nvPr/>
            </p:nvSpPr>
            <p:spPr>
              <a:xfrm>
                <a:off x="6842900" y="4632002"/>
                <a:ext cx="774179" cy="1522437"/>
              </a:xfrm>
              <a:custGeom>
                <a:avLst/>
                <a:gdLst>
                  <a:gd name="connsiteX0" fmla="*/ 774179 w 774179"/>
                  <a:gd name="connsiteY0" fmla="*/ 0 h 1522437"/>
                  <a:gd name="connsiteX1" fmla="*/ 309943 w 774179"/>
                  <a:gd name="connsiteY1" fmla="*/ 1522438 h 1522437"/>
                  <a:gd name="connsiteX2" fmla="*/ 0 w 774179"/>
                  <a:gd name="connsiteY2" fmla="*/ 774179 h 1522437"/>
                  <a:gd name="connsiteX3" fmla="*/ 774179 w 774179"/>
                  <a:gd name="connsiteY3" fmla="*/ 0 h 1522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4179" h="1522437">
                    <a:moveTo>
                      <a:pt x="774179" y="0"/>
                    </a:moveTo>
                    <a:lnTo>
                      <a:pt x="309943" y="1522438"/>
                    </a:lnTo>
                    <a:lnTo>
                      <a:pt x="0" y="774179"/>
                    </a:lnTo>
                    <a:lnTo>
                      <a:pt x="774179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A60CB01-2E94-808A-9D34-3B0FD97124E7}"/>
                  </a:ext>
                </a:extLst>
              </p:cNvPr>
              <p:cNvSpPr/>
              <p:nvPr/>
            </p:nvSpPr>
            <p:spPr>
              <a:xfrm>
                <a:off x="6536660" y="4325762"/>
                <a:ext cx="1080419" cy="1080419"/>
              </a:xfrm>
              <a:custGeom>
                <a:avLst/>
                <a:gdLst>
                  <a:gd name="connsiteX0" fmla="*/ 1080395 w 1080419"/>
                  <a:gd name="connsiteY0" fmla="*/ 306215 h 1080419"/>
                  <a:gd name="connsiteX1" fmla="*/ 341023 w 1080419"/>
                  <a:gd name="connsiteY1" fmla="*/ -25 h 1080419"/>
                  <a:gd name="connsiteX2" fmla="*/ -25 w 1080419"/>
                  <a:gd name="connsiteY2" fmla="*/ 341023 h 1080419"/>
                  <a:gd name="connsiteX3" fmla="*/ 306215 w 1080419"/>
                  <a:gd name="connsiteY3" fmla="*/ 1080395 h 1080419"/>
                  <a:gd name="connsiteX4" fmla="*/ 1080395 w 1080419"/>
                  <a:gd name="connsiteY4" fmla="*/ 306215 h 1080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0419" h="1080419">
                    <a:moveTo>
                      <a:pt x="1080395" y="306215"/>
                    </a:moveTo>
                    <a:lnTo>
                      <a:pt x="341023" y="-25"/>
                    </a:lnTo>
                    <a:lnTo>
                      <a:pt x="-25" y="341023"/>
                    </a:lnTo>
                    <a:lnTo>
                      <a:pt x="306215" y="1080395"/>
                    </a:lnTo>
                    <a:cubicBezTo>
                      <a:pt x="642574" y="914746"/>
                      <a:pt x="914746" y="642574"/>
                      <a:pt x="1080395" y="30621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0929720-D2E9-1C29-F77D-EE7306ABFF12}"/>
                  </a:ext>
                </a:extLst>
              </p:cNvPr>
              <p:cNvSpPr txBox="1"/>
              <p:nvPr/>
            </p:nvSpPr>
            <p:spPr>
              <a:xfrm>
                <a:off x="6771950" y="4514196"/>
                <a:ext cx="333746" cy="4501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325" b="1" spc="0" baseline="0">
                    <a:ln/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4</a:t>
                </a: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63A2D25E-9C5E-94E4-C8F2-05CF59165E97}"/>
                  </a:ext>
                </a:extLst>
              </p:cNvPr>
              <p:cNvSpPr/>
              <p:nvPr/>
            </p:nvSpPr>
            <p:spPr>
              <a:xfrm>
                <a:off x="3726803" y="4325762"/>
                <a:ext cx="1928536" cy="1928536"/>
              </a:xfrm>
              <a:custGeom>
                <a:avLst/>
                <a:gdLst>
                  <a:gd name="connsiteX0" fmla="*/ 1587463 w 1928536"/>
                  <a:gd name="connsiteY0" fmla="*/ -25 h 1928536"/>
                  <a:gd name="connsiteX1" fmla="*/ 99833 w 1928536"/>
                  <a:gd name="connsiteY1" fmla="*/ 616158 h 1928536"/>
                  <a:gd name="connsiteX2" fmla="*/ -25 w 1928536"/>
                  <a:gd name="connsiteY2" fmla="*/ 1117795 h 1928536"/>
                  <a:gd name="connsiteX3" fmla="*/ 810691 w 1928536"/>
                  <a:gd name="connsiteY3" fmla="*/ 1928511 h 1928536"/>
                  <a:gd name="connsiteX4" fmla="*/ 1312328 w 1928536"/>
                  <a:gd name="connsiteY4" fmla="*/ 1828653 h 1928536"/>
                  <a:gd name="connsiteX5" fmla="*/ 1928511 w 1928536"/>
                  <a:gd name="connsiteY5" fmla="*/ 341023 h 1928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28536" h="1928536">
                    <a:moveTo>
                      <a:pt x="1587463" y="-25"/>
                    </a:moveTo>
                    <a:lnTo>
                      <a:pt x="99833" y="616158"/>
                    </a:lnTo>
                    <a:cubicBezTo>
                      <a:pt x="57002" y="831181"/>
                      <a:pt x="42807" y="902773"/>
                      <a:pt x="-25" y="1117795"/>
                    </a:cubicBezTo>
                    <a:lnTo>
                      <a:pt x="810691" y="1928511"/>
                    </a:lnTo>
                    <a:lnTo>
                      <a:pt x="1312328" y="1828653"/>
                    </a:lnTo>
                    <a:lnTo>
                      <a:pt x="1928511" y="341023"/>
                    </a:lnTo>
                    <a:close/>
                  </a:path>
                </a:pathLst>
              </a:custGeom>
              <a:solidFill>
                <a:schemeClr val="accent5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D9472028-B5C2-15D0-EE23-EC50F98FED12}"/>
                  </a:ext>
                </a:extLst>
              </p:cNvPr>
              <p:cNvSpPr/>
              <p:nvPr/>
            </p:nvSpPr>
            <p:spPr>
              <a:xfrm>
                <a:off x="3826661" y="4632002"/>
                <a:ext cx="1522437" cy="774179"/>
              </a:xfrm>
              <a:custGeom>
                <a:avLst/>
                <a:gdLst>
                  <a:gd name="connsiteX0" fmla="*/ 0 w 1522437"/>
                  <a:gd name="connsiteY0" fmla="*/ 309943 h 774179"/>
                  <a:gd name="connsiteX1" fmla="*/ 1522438 w 1522437"/>
                  <a:gd name="connsiteY1" fmla="*/ 774179 h 774179"/>
                  <a:gd name="connsiteX2" fmla="*/ 748258 w 1522437"/>
                  <a:gd name="connsiteY2" fmla="*/ 0 h 774179"/>
                  <a:gd name="connsiteX3" fmla="*/ 0 w 1522437"/>
                  <a:gd name="connsiteY3" fmla="*/ 309943 h 774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2437" h="774179">
                    <a:moveTo>
                      <a:pt x="0" y="309943"/>
                    </a:moveTo>
                    <a:lnTo>
                      <a:pt x="1522438" y="774179"/>
                    </a:lnTo>
                    <a:lnTo>
                      <a:pt x="748258" y="0"/>
                    </a:lnTo>
                    <a:lnTo>
                      <a:pt x="0" y="309943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489A0FC-81A9-C719-576C-E32C360244F9}"/>
                  </a:ext>
                </a:extLst>
              </p:cNvPr>
              <p:cNvSpPr/>
              <p:nvPr/>
            </p:nvSpPr>
            <p:spPr>
              <a:xfrm>
                <a:off x="4574920" y="4325762"/>
                <a:ext cx="1080419" cy="1080419"/>
              </a:xfrm>
              <a:custGeom>
                <a:avLst/>
                <a:gdLst>
                  <a:gd name="connsiteX0" fmla="*/ 774155 w 1080419"/>
                  <a:gd name="connsiteY0" fmla="*/ 1080395 h 1080419"/>
                  <a:gd name="connsiteX1" fmla="*/ 1080395 w 1080419"/>
                  <a:gd name="connsiteY1" fmla="*/ 341023 h 1080419"/>
                  <a:gd name="connsiteX2" fmla="*/ 739346 w 1080419"/>
                  <a:gd name="connsiteY2" fmla="*/ -25 h 1080419"/>
                  <a:gd name="connsiteX3" fmla="*/ -25 w 1080419"/>
                  <a:gd name="connsiteY3" fmla="*/ 306215 h 1080419"/>
                  <a:gd name="connsiteX4" fmla="*/ 774155 w 1080419"/>
                  <a:gd name="connsiteY4" fmla="*/ 1080395 h 1080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0419" h="1080419">
                    <a:moveTo>
                      <a:pt x="774155" y="1080395"/>
                    </a:moveTo>
                    <a:lnTo>
                      <a:pt x="1080395" y="341023"/>
                    </a:lnTo>
                    <a:lnTo>
                      <a:pt x="739346" y="-25"/>
                    </a:lnTo>
                    <a:lnTo>
                      <a:pt x="-25" y="306215"/>
                    </a:lnTo>
                    <a:cubicBezTo>
                      <a:pt x="165624" y="642574"/>
                      <a:pt x="437796" y="914746"/>
                      <a:pt x="774155" y="1080395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B6BAF14-B362-CD4F-4625-16F7998A6693}"/>
                  </a:ext>
                </a:extLst>
              </p:cNvPr>
              <p:cNvSpPr txBox="1"/>
              <p:nvPr/>
            </p:nvSpPr>
            <p:spPr>
              <a:xfrm>
                <a:off x="5043377" y="4514196"/>
                <a:ext cx="333746" cy="4501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325" b="1" spc="0" baseline="0">
                    <a:ln/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6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DFE2B60-A65E-3B51-34F8-5694D9408814}"/>
                  </a:ext>
                </a:extLst>
              </p:cNvPr>
              <p:cNvSpPr txBox="1"/>
              <p:nvPr/>
            </p:nvSpPr>
            <p:spPr>
              <a:xfrm>
                <a:off x="5503745" y="1232040"/>
                <a:ext cx="1116544" cy="938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DESCRIPTION AND PREPARATION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C7C3F1A-AF5C-01D1-6E63-0E147F750C45}"/>
                  </a:ext>
                </a:extLst>
              </p:cNvPr>
              <p:cNvSpPr txBox="1"/>
              <p:nvPr/>
            </p:nvSpPr>
            <p:spPr>
              <a:xfrm>
                <a:off x="6842899" y="2047375"/>
                <a:ext cx="16181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 AND CALCULATION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78221E5-44B6-7BC9-C97C-809D7921AA58}"/>
                  </a:ext>
                </a:extLst>
              </p:cNvPr>
              <p:cNvSpPr txBox="1"/>
              <p:nvPr/>
            </p:nvSpPr>
            <p:spPr>
              <a:xfrm>
                <a:off x="7572102" y="3598500"/>
                <a:ext cx="11583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PIVOT TABLE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672C407-69CD-1F4A-E30C-0FDC0B04644B}"/>
                  </a:ext>
                </a:extLst>
              </p:cNvPr>
              <p:cNvSpPr txBox="1"/>
              <p:nvPr/>
            </p:nvSpPr>
            <p:spPr>
              <a:xfrm>
                <a:off x="6747210" y="5225277"/>
                <a:ext cx="16181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SLICER AND PIVOT CHART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454518E-F816-FD26-2159-C05260080016}"/>
                  </a:ext>
                </a:extLst>
              </p:cNvPr>
              <p:cNvSpPr txBox="1"/>
              <p:nvPr/>
            </p:nvSpPr>
            <p:spPr>
              <a:xfrm>
                <a:off x="5319646" y="6030486"/>
                <a:ext cx="16181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WHAT-IF ANALYSI AND GOAL SEEK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967E106-402C-7300-C996-13AE6C62801F}"/>
                  </a:ext>
                </a:extLst>
              </p:cNvPr>
              <p:cNvSpPr txBox="1"/>
              <p:nvPr/>
            </p:nvSpPr>
            <p:spPr>
              <a:xfrm>
                <a:off x="3709728" y="5225277"/>
                <a:ext cx="16181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DASHBOARD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A79F6B0-5EB9-35F3-CEE5-825675152DF2}"/>
                  </a:ext>
                </a:extLst>
              </p:cNvPr>
              <p:cNvSpPr txBox="1"/>
              <p:nvPr/>
            </p:nvSpPr>
            <p:spPr>
              <a:xfrm>
                <a:off x="3097159" y="3617502"/>
                <a:ext cx="161812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MACRO AND POWERY QUERY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845E210-489E-CE82-530E-FDE64F063C2D}"/>
                  </a:ext>
                </a:extLst>
              </p:cNvPr>
              <p:cNvSpPr txBox="1"/>
              <p:nvPr/>
            </p:nvSpPr>
            <p:spPr>
              <a:xfrm>
                <a:off x="3991922" y="2001435"/>
                <a:ext cx="1202249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INSIGHTS AND RECOMMENDATIONS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504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A0C09A02-AE80-B1C3-FED5-B00694F39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7711BC-7715-36EB-B9A6-9C1D3FE88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	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CDC731-AD92-E5F2-6966-FF5890249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12563" y="1539551"/>
            <a:ext cx="4292082" cy="46374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32F1C6-7360-8078-D489-CA3D7C034090}"/>
              </a:ext>
            </a:extLst>
          </p:cNvPr>
          <p:cNvSpPr txBox="1"/>
          <p:nvPr/>
        </p:nvSpPr>
        <p:spPr>
          <a:xfrm>
            <a:off x="951722" y="1894114"/>
            <a:ext cx="556104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is the buying and selling of goods and services over the internet.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contains customer, product, order, and review data from an online retail platform. 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OVERVIEW- 2500 ROWS, 20 COLUMNS.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https://www.kaggle.com/datasets/nabihazahid/ecommerce-dataset-for-sql-analysis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68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>
            <a:extLst>
              <a:ext uri="{FF2B5EF4-FFF2-40B4-BE49-F238E27FC236}">
                <a16:creationId xmlns:a16="http://schemas.microsoft.com/office/drawing/2014/main" id="{C8872721-3DF5-BC80-7127-ACF61BC84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03" t="748" r="1583" b="-748"/>
          <a:stretch>
            <a:fillRect/>
          </a:stretch>
        </p:blipFill>
        <p:spPr bwMode="auto">
          <a:xfrm>
            <a:off x="6907513" y="681038"/>
            <a:ext cx="4953429" cy="320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34D9FD-AB6C-B00E-F066-D99C56E10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 AND CALCULATION</a:t>
            </a:r>
            <a:br>
              <a:rPr lang="en-US"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5321-B69A-FC7A-0B42-C9F349C4E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Calculations-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Total sales-633875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Average sales- 253.55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Formula-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HLOOKUP, VLOOKUP AND XLOOKUP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1C08C6-6934-4C2F-7183-6FE819411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141" y="2282720"/>
            <a:ext cx="1981372" cy="7274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272100-002E-D8C9-52E3-6FC6B6305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201" y="4076700"/>
            <a:ext cx="3696020" cy="8154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0E59EF-20D3-7F65-CA1C-A54E3F6837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792" y="5178221"/>
            <a:ext cx="3657917" cy="11430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24D0E7-127A-7B8B-2B81-0BBBCAC2D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496" y="5208064"/>
            <a:ext cx="4953429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85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4F864533-E709-95F4-4AE1-8B59AE9DB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02" y="382255"/>
            <a:ext cx="11300161" cy="585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1E0FD-180B-6D32-CBB6-6C6F36EA4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268" y="1828800"/>
            <a:ext cx="5106672" cy="97971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 TABLES: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AGGREGATED BY COUNTRY, UNIT PRICE, QUANITY, PAYMENT METHOD AND YEAR.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F815C-27AB-DDED-5DD5-E46980CA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724"/>
            <a:ext cx="10345477" cy="49326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 TABLES 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976EAB-5294-128E-781E-0F4610E86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721570"/>
              </p:ext>
            </p:extLst>
          </p:nvPr>
        </p:nvGraphicFramePr>
        <p:xfrm>
          <a:off x="6534151" y="928358"/>
          <a:ext cx="5087061" cy="2133600"/>
        </p:xfrm>
        <a:graphic>
          <a:graphicData uri="http://schemas.openxmlformats.org/drawingml/2006/table">
            <a:tbl>
              <a:tblPr/>
              <a:tblGrid>
                <a:gridCol w="2302274">
                  <a:extLst>
                    <a:ext uri="{9D8B030D-6E8A-4147-A177-3AD203B41FA5}">
                      <a16:colId xmlns:a16="http://schemas.microsoft.com/office/drawing/2014/main" val="4268922295"/>
                    </a:ext>
                  </a:extLst>
                </a:gridCol>
                <a:gridCol w="1524206">
                  <a:extLst>
                    <a:ext uri="{9D8B030D-6E8A-4147-A177-3AD203B41FA5}">
                      <a16:colId xmlns:a16="http://schemas.microsoft.com/office/drawing/2014/main" val="1186631595"/>
                    </a:ext>
                  </a:extLst>
                </a:gridCol>
                <a:gridCol w="1260581">
                  <a:extLst>
                    <a:ext uri="{9D8B030D-6E8A-4147-A177-3AD203B41FA5}">
                      <a16:colId xmlns:a16="http://schemas.microsoft.com/office/drawing/2014/main" val="812806461"/>
                    </a:ext>
                  </a:extLst>
                </a:gridCol>
              </a:tblGrid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category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(All)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21663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568846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Row Labels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Sum of quantity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Sum of unit_price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103595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Australia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65980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211882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Brazil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63036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607685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Canada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58571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719367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China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71496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366591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France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75467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165536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Germany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48750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925040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India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70519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252215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Japan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62016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124739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58816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185457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59224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001573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7443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633875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95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338F04-DCDC-04C3-ADF9-7F3680B81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127311"/>
              </p:ext>
            </p:extLst>
          </p:nvPr>
        </p:nvGraphicFramePr>
        <p:xfrm>
          <a:off x="487136" y="2941899"/>
          <a:ext cx="5918966" cy="3013353"/>
        </p:xfrm>
        <a:graphic>
          <a:graphicData uri="http://schemas.openxmlformats.org/drawingml/2006/table">
            <a:tbl>
              <a:tblPr/>
              <a:tblGrid>
                <a:gridCol w="1195750">
                  <a:extLst>
                    <a:ext uri="{9D8B030D-6E8A-4147-A177-3AD203B41FA5}">
                      <a16:colId xmlns:a16="http://schemas.microsoft.com/office/drawing/2014/main" val="3103780594"/>
                    </a:ext>
                  </a:extLst>
                </a:gridCol>
                <a:gridCol w="751615">
                  <a:extLst>
                    <a:ext uri="{9D8B030D-6E8A-4147-A177-3AD203B41FA5}">
                      <a16:colId xmlns:a16="http://schemas.microsoft.com/office/drawing/2014/main" val="2164208502"/>
                    </a:ext>
                  </a:extLst>
                </a:gridCol>
                <a:gridCol w="512465">
                  <a:extLst>
                    <a:ext uri="{9D8B030D-6E8A-4147-A177-3AD203B41FA5}">
                      <a16:colId xmlns:a16="http://schemas.microsoft.com/office/drawing/2014/main" val="3873121405"/>
                    </a:ext>
                  </a:extLst>
                </a:gridCol>
                <a:gridCol w="316021">
                  <a:extLst>
                    <a:ext uri="{9D8B030D-6E8A-4147-A177-3AD203B41FA5}">
                      <a16:colId xmlns:a16="http://schemas.microsoft.com/office/drawing/2014/main" val="3116427697"/>
                    </a:ext>
                  </a:extLst>
                </a:gridCol>
                <a:gridCol w="521005">
                  <a:extLst>
                    <a:ext uri="{9D8B030D-6E8A-4147-A177-3AD203B41FA5}">
                      <a16:colId xmlns:a16="http://schemas.microsoft.com/office/drawing/2014/main" val="2081848079"/>
                    </a:ext>
                  </a:extLst>
                </a:gridCol>
                <a:gridCol w="1195750">
                  <a:extLst>
                    <a:ext uri="{9D8B030D-6E8A-4147-A177-3AD203B41FA5}">
                      <a16:colId xmlns:a16="http://schemas.microsoft.com/office/drawing/2014/main" val="809798528"/>
                    </a:ext>
                  </a:extLst>
                </a:gridCol>
                <a:gridCol w="1426360">
                  <a:extLst>
                    <a:ext uri="{9D8B030D-6E8A-4147-A177-3AD203B41FA5}">
                      <a16:colId xmlns:a16="http://schemas.microsoft.com/office/drawing/2014/main" val="1921161320"/>
                    </a:ext>
                  </a:extLst>
                </a:gridCol>
              </a:tblGrid>
              <a:tr h="1574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category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(All)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577202"/>
                  </a:ext>
                </a:extLst>
              </a:tr>
              <a:tr h="1574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024370"/>
                  </a:ext>
                </a:extLst>
              </a:tr>
              <a:tr h="3149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Sum of rating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Column Labels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870702"/>
                  </a:ext>
                </a:extLst>
              </a:tr>
              <a:tr h="3149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Row Labels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average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bad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good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very bad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very good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06197"/>
                  </a:ext>
                </a:extLst>
              </a:tr>
              <a:tr h="194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Australia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541576"/>
                  </a:ext>
                </a:extLst>
              </a:tr>
              <a:tr h="194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Brazil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564740"/>
                  </a:ext>
                </a:extLst>
              </a:tr>
              <a:tr h="1574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Canada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57986"/>
                  </a:ext>
                </a:extLst>
              </a:tr>
              <a:tr h="1574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China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627431"/>
                  </a:ext>
                </a:extLst>
              </a:tr>
              <a:tr h="194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France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722630"/>
                  </a:ext>
                </a:extLst>
              </a:tr>
              <a:tr h="194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Germany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806275"/>
                  </a:ext>
                </a:extLst>
              </a:tr>
              <a:tr h="194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India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235279"/>
                  </a:ext>
                </a:extLst>
              </a:tr>
              <a:tr h="194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Japan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747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052366"/>
                  </a:ext>
                </a:extLst>
              </a:tr>
              <a:tr h="194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951701"/>
                  </a:ext>
                </a:extLst>
              </a:tr>
              <a:tr h="194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902592"/>
                  </a:ext>
                </a:extLst>
              </a:tr>
              <a:tr h="194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1455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1432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7461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9906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BE17C95-8BCD-E563-33A6-EB47CB8A6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967941"/>
              </p:ext>
            </p:extLst>
          </p:nvPr>
        </p:nvGraphicFramePr>
        <p:xfrm>
          <a:off x="6643397" y="3293151"/>
          <a:ext cx="4979582" cy="2908788"/>
        </p:xfrm>
        <a:graphic>
          <a:graphicData uri="http://schemas.openxmlformats.org/drawingml/2006/table">
            <a:tbl>
              <a:tblPr/>
              <a:tblGrid>
                <a:gridCol w="1806067">
                  <a:extLst>
                    <a:ext uri="{9D8B030D-6E8A-4147-A177-3AD203B41FA5}">
                      <a16:colId xmlns:a16="http://schemas.microsoft.com/office/drawing/2014/main" val="1419217498"/>
                    </a:ext>
                  </a:extLst>
                </a:gridCol>
                <a:gridCol w="1135243">
                  <a:extLst>
                    <a:ext uri="{9D8B030D-6E8A-4147-A177-3AD203B41FA5}">
                      <a16:colId xmlns:a16="http://schemas.microsoft.com/office/drawing/2014/main" val="500465154"/>
                    </a:ext>
                  </a:extLst>
                </a:gridCol>
                <a:gridCol w="774026">
                  <a:extLst>
                    <a:ext uri="{9D8B030D-6E8A-4147-A177-3AD203B41FA5}">
                      <a16:colId xmlns:a16="http://schemas.microsoft.com/office/drawing/2014/main" val="1533136529"/>
                    </a:ext>
                  </a:extLst>
                </a:gridCol>
                <a:gridCol w="477317">
                  <a:extLst>
                    <a:ext uri="{9D8B030D-6E8A-4147-A177-3AD203B41FA5}">
                      <a16:colId xmlns:a16="http://schemas.microsoft.com/office/drawing/2014/main" val="2685411755"/>
                    </a:ext>
                  </a:extLst>
                </a:gridCol>
                <a:gridCol w="786929">
                  <a:extLst>
                    <a:ext uri="{9D8B030D-6E8A-4147-A177-3AD203B41FA5}">
                      <a16:colId xmlns:a16="http://schemas.microsoft.com/office/drawing/2014/main" val="1158802150"/>
                    </a:ext>
                  </a:extLst>
                </a:gridCol>
              </a:tblGrid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category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(All)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822286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061577"/>
                  </a:ext>
                </a:extLst>
              </a:tr>
              <a:tr h="4319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Count of Years (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order_date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Column Labels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54564"/>
                  </a:ext>
                </a:extLst>
              </a:tr>
              <a:tr h="4319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Row Labels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Cash on Delivery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Credit Card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PayPal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360416"/>
                  </a:ext>
                </a:extLst>
              </a:tr>
              <a:tr h="14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Australia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425246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Brazil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807711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Canada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60824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China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092853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France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822078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Germany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860666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India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060685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Japan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09128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165228"/>
                  </a:ext>
                </a:extLst>
              </a:tr>
              <a:tr h="135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093167"/>
                  </a:ext>
                </a:extLst>
              </a:tr>
              <a:tr h="2159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2493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C6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466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87174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181A2-CFD7-88E1-5209-A2E150861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081088"/>
          </a:xfrm>
        </p:spPr>
        <p:txBody>
          <a:bodyPr>
            <a:normAutofit/>
          </a:bodyPr>
          <a:lstStyle/>
          <a:p>
            <a:pPr algn="ctr"/>
            <a:r>
              <a:rPr lang="en-US" sz="4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WHAT-IF ANALYSIS AND GOAL SEEK	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76C199-8F7D-E972-1B54-4D46C7D6E5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321791"/>
              </p:ext>
            </p:extLst>
          </p:nvPr>
        </p:nvGraphicFramePr>
        <p:xfrm>
          <a:off x="681135" y="1690688"/>
          <a:ext cx="9993086" cy="2036086"/>
        </p:xfrm>
        <a:graphic>
          <a:graphicData uri="http://schemas.openxmlformats.org/drawingml/2006/table">
            <a:tbl>
              <a:tblPr/>
              <a:tblGrid>
                <a:gridCol w="3271281">
                  <a:extLst>
                    <a:ext uri="{9D8B030D-6E8A-4147-A177-3AD203B41FA5}">
                      <a16:colId xmlns:a16="http://schemas.microsoft.com/office/drawing/2014/main" val="3832059280"/>
                    </a:ext>
                  </a:extLst>
                </a:gridCol>
                <a:gridCol w="896241">
                  <a:extLst>
                    <a:ext uri="{9D8B030D-6E8A-4147-A177-3AD203B41FA5}">
                      <a16:colId xmlns:a16="http://schemas.microsoft.com/office/drawing/2014/main" val="2694151036"/>
                    </a:ext>
                  </a:extLst>
                </a:gridCol>
                <a:gridCol w="1456391">
                  <a:extLst>
                    <a:ext uri="{9D8B030D-6E8A-4147-A177-3AD203B41FA5}">
                      <a16:colId xmlns:a16="http://schemas.microsoft.com/office/drawing/2014/main" val="4244961120"/>
                    </a:ext>
                  </a:extLst>
                </a:gridCol>
                <a:gridCol w="1456391">
                  <a:extLst>
                    <a:ext uri="{9D8B030D-6E8A-4147-A177-3AD203B41FA5}">
                      <a16:colId xmlns:a16="http://schemas.microsoft.com/office/drawing/2014/main" val="4278755041"/>
                    </a:ext>
                  </a:extLst>
                </a:gridCol>
                <a:gridCol w="1456391">
                  <a:extLst>
                    <a:ext uri="{9D8B030D-6E8A-4147-A177-3AD203B41FA5}">
                      <a16:colId xmlns:a16="http://schemas.microsoft.com/office/drawing/2014/main" val="2098237415"/>
                    </a:ext>
                  </a:extLst>
                </a:gridCol>
                <a:gridCol w="1456391">
                  <a:extLst>
                    <a:ext uri="{9D8B030D-6E8A-4147-A177-3AD203B41FA5}">
                      <a16:colId xmlns:a16="http://schemas.microsoft.com/office/drawing/2014/main" val="3533730947"/>
                    </a:ext>
                  </a:extLst>
                </a:gridCol>
              </a:tblGrid>
              <a:tr h="6214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Scenario Summary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CHANGING QTY FOR PROFT CHANGE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61018"/>
                  </a:ext>
                </a:extLst>
              </a:tr>
              <a:tr h="192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Quantity Breakdown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Actual Quantity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896654"/>
                  </a:ext>
                </a:extLst>
              </a:tr>
              <a:tr h="174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</a:rPr>
                        <a:t>Changing Cells: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137931"/>
                  </a:ext>
                </a:extLst>
              </a:tr>
              <a:tr h="174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144882"/>
                  </a:ext>
                </a:extLst>
              </a:tr>
              <a:tr h="174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</a:rPr>
                        <a:t>Result Cells: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535744"/>
                  </a:ext>
                </a:extLst>
              </a:tr>
              <a:tr h="174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PROFIT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396171875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475406250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633875000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792343750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440006"/>
                  </a:ext>
                </a:extLst>
              </a:tr>
              <a:tr h="174652"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Notes:  Current Values column represents values of changing cells at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456325"/>
                  </a:ext>
                </a:extLst>
              </a:tr>
              <a:tr h="174652"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time Scenario Summary Report was created.  Changing cells for each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727755"/>
                  </a:ext>
                </a:extLst>
              </a:tr>
              <a:tr h="174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scenario are highlighted in gray.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46937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AA2B598-71CD-1921-4389-1B0DFFB1A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36" y="3946849"/>
            <a:ext cx="9881118" cy="2708861"/>
          </a:xfrm>
          <a:prstGeom prst="rect">
            <a:avLst/>
          </a:prstGeom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FA1F85A-69CF-4748-2589-A090C2266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2865" y="3511064"/>
            <a:ext cx="2450452" cy="15020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56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765737C-6B6A-4172-8ED6-8C2B81D03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22" y="345234"/>
            <a:ext cx="11431556" cy="614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FC580B-E6CB-47DF-4A93-64F97313D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013927"/>
          </a:xfrm>
        </p:spPr>
        <p:txBody>
          <a:bodyPr>
            <a:normAutofit/>
          </a:bodyPr>
          <a:lstStyle/>
          <a:p>
            <a:pPr algn="ctr"/>
            <a:r>
              <a:rPr lang="en-US" sz="4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995CA3-AE99-6A32-4AAC-0BE176B5B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45" y="3103918"/>
            <a:ext cx="10265030" cy="277744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666ED9-98E0-0CB8-C5C4-5239B909C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127" y="1825625"/>
            <a:ext cx="11064551" cy="435133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SALES FOR 2500 DATA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633875</a:t>
            </a:r>
          </a:p>
          <a:p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Good review country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CANADA</a:t>
            </a:r>
          </a:p>
          <a:p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PAYMENT METHOD USED IS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CARD</a:t>
            </a:r>
          </a:p>
          <a:p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24" name="Picture 8">
            <a:extLst>
              <a:ext uri="{FF2B5EF4-FFF2-40B4-BE49-F238E27FC236}">
                <a16:creationId xmlns:a16="http://schemas.microsoft.com/office/drawing/2014/main" id="{69FF47B1-25F5-0A1F-1361-1E0672176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4435" y="1530220"/>
            <a:ext cx="2394080" cy="14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288021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957977-8564-6163-E714-9AF6E928AB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" b="14184"/>
          <a:stretch>
            <a:fillRect/>
          </a:stretch>
        </p:blipFill>
        <p:spPr bwMode="auto">
          <a:xfrm>
            <a:off x="270588" y="307910"/>
            <a:ext cx="11672596" cy="623284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F5DA66-9B88-0C69-C0A2-C55142ED8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01216"/>
            <a:ext cx="9875520" cy="979715"/>
          </a:xfrm>
        </p:spPr>
        <p:txBody>
          <a:bodyPr>
            <a:normAutofit/>
          </a:bodyPr>
          <a:lstStyle/>
          <a:p>
            <a:pPr algn="ctr"/>
            <a:r>
              <a:rPr lang="en-US" sz="4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 AND AUTOMATION	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B9B327-1005-3FC0-A701-FFD1F3084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82352" y="1825625"/>
            <a:ext cx="5013648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AE88E2-544F-EC3D-1C3C-EC791F4F7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152" y="1825625"/>
            <a:ext cx="50136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1901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4D87B76-5DF8-21D6-F2DF-C215DC0AB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63" y="1272073"/>
            <a:ext cx="7977737" cy="246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FA99C1-3F39-EBA5-C312-CD3CC17D0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05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PIVOT	</a:t>
            </a:r>
            <a:br>
              <a:rPr lang="en-US" sz="4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62440-3194-45B6-6DAE-8D24B51CA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7077269" cy="1371600"/>
          </a:xfrm>
        </p:spPr>
        <p:txBody>
          <a:bodyPr>
            <a:normAutofit fontScale="77500" lnSpcReduction="20000"/>
          </a:bodyPr>
          <a:lstStyle/>
          <a:p>
            <a:pPr marL="4572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two tables 2020-2023 and 2024-2025.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relationship using customer ID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total sales , sum of quantity and average sales 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0146D-0255-ED9F-CA37-8E3BA3206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36" y="3812810"/>
            <a:ext cx="5044877" cy="26800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DDDE30-2455-B272-4475-242A38C59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668" y="3657988"/>
            <a:ext cx="5182049" cy="28348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AutoShape 6">
            <a:extLst>
              <a:ext uri="{FF2B5EF4-FFF2-40B4-BE49-F238E27FC236}">
                <a16:creationId xmlns:a16="http://schemas.microsoft.com/office/drawing/2014/main" id="{1267D7BD-9E79-282D-5D43-8100AB764A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197E0486-1082-72A2-0E4C-A607B80BA3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16C8B272-8039-F1A5-84C9-95D6F31B8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937" y="1382291"/>
            <a:ext cx="2819400" cy="14408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594267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computer and a cart">
            <a:extLst>
              <a:ext uri="{FF2B5EF4-FFF2-40B4-BE49-F238E27FC236}">
                <a16:creationId xmlns:a16="http://schemas.microsoft.com/office/drawing/2014/main" id="{4853D133-E065-83D9-D7DB-9ABD08FC1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4" y="1679510"/>
            <a:ext cx="10546116" cy="3564294"/>
          </a:xfrm>
          <a:prstGeom prst="rect">
            <a:avLst/>
          </a:prstGeom>
        </p:spPr>
      </p:pic>
      <p:sp>
        <p:nvSpPr>
          <p:cNvPr id="13" name="AutoShape 2">
            <a:extLst>
              <a:ext uri="{FF2B5EF4-FFF2-40B4-BE49-F238E27FC236}">
                <a16:creationId xmlns:a16="http://schemas.microsoft.com/office/drawing/2014/main" id="{CC922D82-5C8C-D48C-5559-F2FC51B580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E4D4D-1040-A94F-AA48-8DE24E422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CA2E-B01E-2E95-F65D-21138264F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 Year-wise and Payment Method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B6D4911-919E-91A8-F52C-7B4B66696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44840"/>
              </p:ext>
            </p:extLst>
          </p:nvPr>
        </p:nvGraphicFramePr>
        <p:xfrm>
          <a:off x="6452106" y="4632960"/>
          <a:ext cx="4664789" cy="1463040"/>
        </p:xfrm>
        <a:graphic>
          <a:graphicData uri="http://schemas.openxmlformats.org/drawingml/2006/table">
            <a:tbl>
              <a:tblPr/>
              <a:tblGrid>
                <a:gridCol w="4664789">
                  <a:extLst>
                    <a:ext uri="{9D8B030D-6E8A-4147-A177-3AD203B41FA5}">
                      <a16:colId xmlns:a16="http://schemas.microsoft.com/office/drawing/2014/main" val="3258338629"/>
                    </a:ext>
                  </a:extLst>
                </a:gridCol>
              </a:tblGrid>
              <a:tr h="12503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Planning (Year-wise):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Allocate resources disproportionately to digital marketing and high-quality product sourcing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13354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A5E3374-42CB-B605-377A-9BB69A050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135221"/>
              </p:ext>
            </p:extLst>
          </p:nvPr>
        </p:nvGraphicFramePr>
        <p:xfrm>
          <a:off x="1145072" y="4593158"/>
          <a:ext cx="4825999" cy="1645920"/>
        </p:xfrm>
        <a:graphic>
          <a:graphicData uri="http://schemas.openxmlformats.org/drawingml/2006/table">
            <a:tbl>
              <a:tblPr/>
              <a:tblGrid>
                <a:gridCol w="4825999">
                  <a:extLst>
                    <a:ext uri="{9D8B030D-6E8A-4147-A177-3AD203B41FA5}">
                      <a16:colId xmlns:a16="http://schemas.microsoft.com/office/drawing/2014/main" val="782048279"/>
                    </a:ext>
                  </a:extLst>
                </a:gridCol>
              </a:tblGrid>
              <a:tr h="14297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Prioritize COD Risk Reduction: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 previously identified high return/cancellation rate </a:t>
                      </a:r>
                      <a:b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 often most severe with COD orders. </a:t>
                      </a:r>
                      <a:b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Since the COD segment is not growing, </a:t>
                      </a:r>
                      <a:b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efforts on 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reducing the failure rate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rather than chasing more COD volume.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41252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E9B3891-37E5-8E5C-1545-A9B12E9E6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146" y="2441159"/>
            <a:ext cx="5006774" cy="883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DC4B02-C9FA-B920-FA39-4942C4F65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441159"/>
            <a:ext cx="4915326" cy="1005927"/>
          </a:xfrm>
          <a:prstGeom prst="rect">
            <a:avLst/>
          </a:prstGeom>
        </p:spPr>
      </p:pic>
      <p:sp>
        <p:nvSpPr>
          <p:cNvPr id="15" name="AutoShape 6">
            <a:extLst>
              <a:ext uri="{FF2B5EF4-FFF2-40B4-BE49-F238E27FC236}">
                <a16:creationId xmlns:a16="http://schemas.microsoft.com/office/drawing/2014/main" id="{148151C2-5B89-5C3C-B7AB-647B5A4A59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3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AE70EA-D9C0-FB36-69E3-27B9AE4F9C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1"/>
          <a:stretch>
            <a:fillRect/>
          </a:stretch>
        </p:blipFill>
        <p:spPr bwMode="auto">
          <a:xfrm>
            <a:off x="830425" y="1688840"/>
            <a:ext cx="7361854" cy="432940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27AD7B-52C6-58BF-EB76-5626CD401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4BFA4-AC2A-CBB2-228D-A545AF66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2736"/>
            <a:ext cx="6153539" cy="3265714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of the E-commerce dataset reveals a business in a strong growth phase, primarily driven by the successful adoption of digital payment methods (Credit Card and PayPal) in the years leading up to 2024</a:t>
            </a:r>
            <a:r>
              <a:rPr lang="en-US" sz="1800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and accelerate this positive trajectory, the business should prioritize incentivizing the shift to digital payments and optimizing that customer experience.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9ED7C-D93C-FDA6-B675-3119E6C3E3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33"/>
          <a:stretch>
            <a:fillRect/>
          </a:stretch>
        </p:blipFill>
        <p:spPr bwMode="auto">
          <a:xfrm>
            <a:off x="8521700" y="4189444"/>
            <a:ext cx="3178888" cy="19065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994326C-615F-678C-43B3-6135EE77E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4669" y="1546679"/>
            <a:ext cx="2332654" cy="248194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129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64EBF-A7C7-27F0-24B9-F1A0417F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79EB447-22F2-68F7-6645-E0FEE115BF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08497" cy="6643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224488"/>
      </p:ext>
    </p:extLst>
  </p:cSld>
  <p:clrMapOvr>
    <a:masterClrMapping/>
  </p:clrMapOvr>
  <p:transition spd="slow">
    <p:comb/>
  </p:transition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697</TotalTime>
  <Words>636</Words>
  <Application>Microsoft Office PowerPoint</Application>
  <PresentationFormat>Widescreen</PresentationFormat>
  <Paragraphs>292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Corbel</vt:lpstr>
      <vt:lpstr>Lora</vt:lpstr>
      <vt:lpstr>Times New Roman</vt:lpstr>
      <vt:lpstr>Basis</vt:lpstr>
      <vt:lpstr>PowerPoint Presentation</vt:lpstr>
      <vt:lpstr>PowerPoint Presentation</vt:lpstr>
      <vt:lpstr>DATA DESCRIPTION </vt:lpstr>
      <vt:lpstr>FORMULA AND CALCULATION </vt:lpstr>
      <vt:lpstr>PIVOT TABLES  </vt:lpstr>
      <vt:lpstr>WHAT-IF ANALYSIS AND GOAL SEEK </vt:lpstr>
      <vt:lpstr>DASHBOARD OVERVIEW </vt:lpstr>
      <vt:lpstr>MACRO AND AUTOMATION </vt:lpstr>
      <vt:lpstr>POWER PIVOT  </vt:lpstr>
      <vt:lpstr>INSIGHTS AND 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SlideEgg</dc:creator>
  <cp:lastModifiedBy>rathi sp</cp:lastModifiedBy>
  <cp:revision>9</cp:revision>
  <dcterms:created xsi:type="dcterms:W3CDTF">2023-06-13T07:16:23Z</dcterms:created>
  <dcterms:modified xsi:type="dcterms:W3CDTF">2025-11-28T14:24:51Z</dcterms:modified>
</cp:coreProperties>
</file>